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93A-359C-4925-AE49-481A9E233EF0}" type="datetimeFigureOut"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02811-39F7-4E3C-85FC-DFD91B1189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8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Secure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Information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49808" y="27889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2616B"/>
                </a:solidFill>
              </a:rPr>
              <a:t>Secure Software Engineering Course Project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9808" y="333756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95528" y="3419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Individual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333756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017520" y="34198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Spring 2025–2026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26680" y="1965960"/>
            <a:ext cx="29718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7D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65008" y="254203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B57"/>
                </a:solidFill>
              </a:rPr>
              <a:t>SECURE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73B57"/>
                </a:solidFill>
              </a:rPr>
              <a:t>GRADE PORTAL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10728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RBAC  •  HTTPS  •  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5989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Prepared by: [Student Name]</a:t>
            </a:r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00000" y="4200000"/>
            <a:ext cx="6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Khalid Zainalabedin</a:t>
            </a:r>
          </a:p>
          <a:p>
            <a:r>
              <a:t>202200598</a:t>
            </a:r>
          </a:p>
          <a:p>
            <a:r>
              <a:t>Secure Software Engineering_101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 and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</a:rPr>
              <a:t>Design security into the SDLC for a grade-management website.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B57"/>
                </a:solidFill>
              </a:rPr>
              <a:t>Goal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8463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C1C1C"/>
                </a:solidFill>
              </a:rPr>
              <a:t>Build a secure web system where students can view grades and instructors can post or update grades without exposing or corrupting academic records.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743200" y="4133088"/>
            <a:ext cx="91440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73168" y="4133088"/>
            <a:ext cx="91440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03136" y="4133088"/>
            <a:ext cx="91440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388620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9959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Requirements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52928" y="388620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98648" y="39959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Design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82896" y="388620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28616" y="39959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Login Code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2864" y="388620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58584" y="39959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22592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57"/>
                </a:solidFill>
              </a:rPr>
              <a:t>Deliverables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14032" y="2423160"/>
            <a:ext cx="3429000" cy="1444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C1C1C"/>
                </a:solidFill>
              </a:rPr>
              <a:t>Well-structured report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Short PowerPoint presentation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Secure login-process code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Public GitHub repository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7552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Secure Software Engineering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</a:rPr>
              <a:t>Main controls needed to protect students, instructors, and grade records.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81328"/>
            <a:ext cx="2331720" cy="530352"/>
          </a:xfrm>
          <a:prstGeom prst="roundRect">
            <a:avLst>
              <a:gd name="adj" fmla="val 10345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636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Confidentiality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C1C1C"/>
                </a:solidFill>
              </a:rPr>
              <a:t>Only authorized users can access student grades and account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66160" y="1481328"/>
            <a:ext cx="2331720" cy="530352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5636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Integrity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85032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C1C1C"/>
                </a:solidFill>
              </a:rPr>
              <a:t>Grades cannot be changed without permission and every change is logged.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481328"/>
            <a:ext cx="2331720" cy="530352"/>
          </a:xfrm>
          <a:prstGeom prst="roundRect">
            <a:avLst>
              <a:gd name="adj" fmla="val 10345"/>
            </a:avLst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636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Availability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9672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C1C1C"/>
                </a:solidFill>
              </a:rPr>
              <a:t>The system should remain available for legitimate university users.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235440" y="1481328"/>
            <a:ext cx="2331720" cy="530352"/>
          </a:xfrm>
          <a:prstGeom prst="roundRect">
            <a:avLst>
              <a:gd name="adj" fmla="val 10345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15636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Accountability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54312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C1C1C"/>
                </a:solidFill>
              </a:rPr>
              <a:t>Login attempts and grade changes must be traceable.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B57"/>
                </a:solidFill>
              </a:rPr>
              <a:t>Core security requirements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" y="4416552"/>
            <a:ext cx="56235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C1C1C"/>
                </a:solidFill>
              </a:rPr>
              <a:t>Server-side input validation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Prepared statements for SQL queries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Role-based access control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HTTPS/TLS and secure cookies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Password hashing and audit logs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03720" y="4160520"/>
            <a:ext cx="1005840" cy="1417320"/>
          </a:xfrm>
          <a:prstGeom prst="chevron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251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B57"/>
                </a:solidFill>
              </a:rPr>
              <a:t>Secure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73B57"/>
                </a:solidFill>
              </a:rPr>
              <a:t>Grade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73B57"/>
                </a:solidFill>
              </a:rPr>
              <a:t>System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7552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Secure Software Engineering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Threats and Risk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</a:rPr>
              <a:t>Critical risks focus on authentication, authorization, and database access.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5715000"/>
            <a:ext cx="4206240" cy="0"/>
          </a:xfrm>
          <a:prstGeom prst="line">
            <a:avLst/>
          </a:prstGeom>
          <a:noFill/>
          <a:ln w="1905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34440" y="5715000"/>
            <a:ext cx="0" cy="0"/>
          </a:xfrm>
          <a:prstGeom prst="line">
            <a:avLst/>
          </a:prstGeom>
          <a:noFill/>
          <a:ln w="1905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788920" y="58887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0"/>
                </a:solidFill>
              </a:rPr>
              <a:t>Likelihood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 rot="16200000">
            <a:off x="502920" y="3977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0"/>
                </a:solidFill>
              </a:rPr>
              <a:t>Impact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25880" y="2606040"/>
            <a:ext cx="2011680" cy="1417320"/>
          </a:xfrm>
          <a:prstGeom prst="rect">
            <a:avLst/>
          </a:prstGeom>
          <a:solidFill>
            <a:srgbClr val="FFF1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606040"/>
            <a:ext cx="2011680" cy="1417320"/>
          </a:xfrm>
          <a:prstGeom prst="rect">
            <a:avLst/>
          </a:prstGeom>
          <a:solidFill>
            <a:srgbClr val="FF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4023360"/>
            <a:ext cx="2011680" cy="1417320"/>
          </a:xfrm>
          <a:prstGeom prst="rect">
            <a:avLst/>
          </a:prstGeom>
          <a:solidFill>
            <a:srgbClr val="E7F4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4023360"/>
            <a:ext cx="2011680" cy="1417320"/>
          </a:xfrm>
          <a:prstGeom prst="rect">
            <a:avLst/>
          </a:prstGeom>
          <a:solidFill>
            <a:srgbClr val="FFF1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7632" y="29718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3352" y="305409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High impact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Low likelihood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03320" y="29718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D9D9"/>
          </a:solidFill>
          <a:ln w="12700">
            <a:solidFill>
              <a:srgbClr val="FF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05409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2828"/>
                </a:solidFill>
              </a:rPr>
              <a:t>Critical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783080" y="44348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E7F4E8"/>
          </a:solidFill>
          <a:ln w="12700">
            <a:solidFill>
              <a:srgbClr val="E7F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451713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</a:rPr>
              <a:t>Monitor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03320" y="443484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451713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9E4C"/>
                </a:solidFill>
              </a:rPr>
              <a:t>Medium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57"/>
                </a:solidFill>
              </a:rPr>
              <a:t>Top risks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37960" y="2176272"/>
            <a:ext cx="4434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C1C1C"/>
                </a:solidFill>
              </a:rPr>
              <a:t>SQL Injection → unauthorized database access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Broken access control → viewing/changing wrong grades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Weak password storage → account compromise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Sensitive data exposure → privacy violation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4617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B57"/>
                </a:solidFill>
              </a:rPr>
              <a:t>Main mitigation strategy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37960" y="504748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C1C1C"/>
                </a:solidFill>
              </a:rPr>
              <a:t>Reduce risk before deployment through validation, prepared statements, RBAC, HTTPS, secure sessions, and logging.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87552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Secure Software Engineering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Design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</a:rPr>
              <a:t>Layered design separates users, application logic, data, and audit evidence.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3337560"/>
            <a:ext cx="109728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94960" y="3337560"/>
            <a:ext cx="109728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74152" y="3337560"/>
            <a:ext cx="109728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606040"/>
            <a:ext cx="1965960" cy="1444752"/>
          </a:xfrm>
          <a:prstGeom prst="roundRect">
            <a:avLst>
              <a:gd name="adj" fmla="val 5063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15768"/>
            <a:ext cx="1874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Browser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(Student / Instructor)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03320" y="260604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2715768"/>
            <a:ext cx="1737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Application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Validation + Sessions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60604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715768"/>
            <a:ext cx="1737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Access Control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Business Rules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0" y="260604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715768"/>
            <a:ext cx="1737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Users + Grades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4251960"/>
            <a:ext cx="0" cy="86868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5285232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539496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 Logs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Login + Grade Changes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102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B57"/>
                </a:solidFill>
              </a:rPr>
              <a:t>Design principles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" y="55321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C"/>
                </a:solidFill>
              </a:rPr>
              <a:t>Least privilege • Defense in depth • Fail securely • Complete mediation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Secure Software Engineering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Login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</a:rPr>
              <a:t>Code focus: validate first, query safely, hash passwords, protect sessions.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B57"/>
                </a:solidFill>
              </a:rPr>
              <a:t>Login security 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743200"/>
            <a:ext cx="82296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43400" y="2743200"/>
            <a:ext cx="82296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0" y="2743200"/>
            <a:ext cx="82296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2743200"/>
            <a:ext cx="822960" cy="0"/>
          </a:xfrm>
          <a:prstGeom prst="line">
            <a:avLst/>
          </a:prstGeom>
          <a:noFill/>
          <a:ln w="25400">
            <a:solidFill>
              <a:srgbClr val="7E8A9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3317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44144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Input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54680" y="23317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44144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23560" y="23317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44144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Prepared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Query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3317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244144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Check Hash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195560" y="23317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  <a:effectLst>
            <a:outerShdw blurRad="12700" dist="50800" dir="2700000" algn="bl" rotWithShape="0">
              <a:srgbClr val="D0D7DE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41280" y="244144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B57"/>
                </a:solidFill>
              </a:rPr>
              <a:t>Defensive controls in the submitted code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4526280"/>
            <a:ext cx="64922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C1C1C"/>
                </a:solidFill>
              </a:rPr>
              <a:t>Username whitelist: letters, numbers, dot, underscore, hyphen</a:t>
            </a:r>
            <a:endParaRPr lang="en-US" sz="1600" dirty="0"/>
          </a:p>
          <a:p>
            <a:r>
              <a:rPr lang="en-US" sz="1600" dirty="0">
                <a:solidFill>
                  <a:srgbClr val="1C1C1C"/>
                </a:solidFill>
              </a:rPr>
              <a:t>SQL parameter: WHERE username = ?</a:t>
            </a:r>
            <a:endParaRPr lang="en-US" sz="1600" dirty="0"/>
          </a:p>
          <a:p>
            <a:r>
              <a:rPr lang="en-US" sz="1600" dirty="0">
                <a:solidFill>
                  <a:srgbClr val="1C1C1C"/>
                </a:solidFill>
              </a:rPr>
              <a:t>Password checked using secure hashing library</a:t>
            </a:r>
            <a:endParaRPr lang="en-US" sz="1600" dirty="0"/>
          </a:p>
          <a:p>
            <a:r>
              <a:rPr lang="en-US" sz="1600" dirty="0">
                <a:solidFill>
                  <a:srgbClr val="1C1C1C"/>
                </a:solidFill>
              </a:rPr>
              <a:t>Generic error message prevents username discovery</a:t>
            </a:r>
            <a:endParaRPr lang="en-US" sz="1600" dirty="0"/>
          </a:p>
          <a:p>
            <a:r>
              <a:rPr lang="en-US" sz="1600" dirty="0">
                <a:solidFill>
                  <a:srgbClr val="1C1C1C"/>
                </a:solidFill>
              </a:rPr>
              <a:t>Basic rate limiting after repeated failed attempts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01000" y="434340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F7F7F7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injection test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admin' OR '1'='1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 login fails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Secure Software Engineering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Plan and Final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</a:rPr>
              <a:t>Security tests verify that the system blocks misuse, not only that features 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B57"/>
                </a:solidFill>
              </a:rPr>
              <a:t>Security testing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8006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C1C1C"/>
                </a:solidFill>
              </a:rPr>
              <a:t>SQL injection payload must fail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Brute-force attempts must be rate-limited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Student cannot view another student grade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Grade changes must be logged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Invalid values must be rejected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0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B57"/>
                </a:solidFill>
              </a:rPr>
              <a:t>Functional testing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537960" y="1965960"/>
            <a:ext cx="45720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C1C1C"/>
                </a:solidFill>
              </a:rPr>
              <a:t>Two test cases for each function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Create/update account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Login and view grades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Post/update grades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Expected result documented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4572000"/>
            <a:ext cx="9784080" cy="777240"/>
          </a:xfrm>
          <a:prstGeom prst="roundRect">
            <a:avLst>
              <a:gd name="adj" fmla="val 11765"/>
            </a:avLst>
          </a:prstGeom>
          <a:solidFill>
            <a:srgbClr val="D8EEF7"/>
          </a:solidFill>
          <a:ln w="12700">
            <a:solidFill>
              <a:srgbClr val="D8E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480060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B57"/>
                </a:solidFill>
              </a:rPr>
              <a:t>Final outcome: a secure SDLC report, short presentation, defensive login code, and GitHub-ready project structure.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5943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B57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87552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Secure Software Engineering | 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Prince Mohammad Bin Fahd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Secure Student Information System</dc:title>
  <dc:subject>Secure Software Engineering Course Project</dc:subject>
  <dc:creator>OpenAI</dc:creator>
  <cp:lastModifiedBy>OpenAI</cp:lastModifiedBy>
  <cp:revision>4</cp:revision>
  <dcterms:created xsi:type="dcterms:W3CDTF">2026-05-10T17:22:34Z</dcterms:created>
  <dcterms:modified xsi:type="dcterms:W3CDTF">2026-05-10T20:08:31Z</dcterms:modified>
</cp:coreProperties>
</file>